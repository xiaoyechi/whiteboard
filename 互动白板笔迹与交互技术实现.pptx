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1" r:id="rId17"/>
    <p:sldId id="281" r:id="rId18"/>
    <p:sldId id="272" r:id="rId19"/>
    <p:sldId id="280" r:id="rId20"/>
    <p:sldId id="273" r:id="rId21"/>
    <p:sldId id="282" r:id="rId22"/>
    <p:sldId id="279" r:id="rId23"/>
  </p:sldIdLst>
  <p:sldSz cx="12192000" cy="6858000"/>
  <p:notesSz cx="6858000" cy="12192000"/>
  <p:embeddedFontLst>
    <p:embeddedFont>
      <p:font typeface="MiSans" panose="020B0604020202020204" charset="-122"/>
      <p:regular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16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FF18-E814-C25A-9272-91F44735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358CD-3F72-3A35-53D3-510C34FE6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59656-99FF-1A23-76C3-64BC745D4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0043B-3F62-32AA-56E5-FB435291A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4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B200-4284-9D92-A3EA-A623A79C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FD7AA-2D40-F6D4-2D7C-3DC48DA2C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98D22-5B66-88B8-7C13-29CF58C13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B702B-657C-9DF0-1EC5-C02354813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03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D382-99FB-92BF-D3E9-6B5E88AA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6BBCA-6EAB-660E-76F5-5D28E3B13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D5AFC-DA32-DCF6-5E88-B18D434DC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9F0AA-2C6E-11AF-70E5-2D3C847AB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85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860" y="2007235"/>
            <a:ext cx="6565265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体验实习答辩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90430" y="4304665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6575" y="4328795"/>
            <a:ext cx="247777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汇报人:肖业驰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430" y="512064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6575" y="5144770"/>
            <a:ext cx="247777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 2025/12/26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https://kimi-img.moonshot.cn/pub/slides/slides_tmpl/image/25-09-04-16:27:00-d2skql61bb2p4onbqhb0.png"/>
          <p:cNvPicPr>
            <a:picLocks noChangeAspect="1"/>
          </p:cNvPicPr>
          <p:nvPr/>
        </p:nvPicPr>
        <p:blipFill>
          <a:blip r:embed="rId3"/>
          <a:srcRect l="10087" t="-37" b="305"/>
          <a:stretch/>
        </p:blipFill>
        <p:spPr>
          <a:xfrm>
            <a:off x="7114540" y="-1270"/>
            <a:ext cx="5077460" cy="6859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402205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slides_tmpl/image/25-09-04-16:26:59-d2skqku1bb2p4onbqh8g.png"/>
          <p:cNvPicPr>
            <a:picLocks noChangeAspect="1"/>
          </p:cNvPicPr>
          <p:nvPr/>
        </p:nvPicPr>
        <p:blipFill>
          <a:blip r:embed="rId3"/>
          <a:srcRect t="68" b="68"/>
          <a:stretch/>
        </p:blipFill>
        <p:spPr>
          <a:xfrm flipH="1">
            <a:off x="332105" y="0"/>
            <a:ext cx="11205845" cy="937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53598" y="1812290"/>
            <a:ext cx="2884805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>
                    <a:alpha val="5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530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3614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28251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6093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0730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720715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8572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3209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968615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1051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568815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0216515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0353040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224915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224915" y="3355975"/>
            <a:ext cx="792480" cy="79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6115" y="4509135"/>
            <a:ext cx="191008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72815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472815" y="3355975"/>
            <a:ext cx="792480" cy="79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14015" y="4509135"/>
            <a:ext cx="191008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笔迹生成与平滑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661025" y="3525520"/>
            <a:ext cx="9023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11750" y="4509135"/>
            <a:ext cx="199834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橡皮擦切割算法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906385" y="3525520"/>
            <a:ext cx="9023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09815" y="4509135"/>
            <a:ext cx="191008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圈选与批量操作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152380" y="3525520"/>
            <a:ext cx="9023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657715" y="4509135"/>
            <a:ext cx="191008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互动白板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4-d2skqm61bb2p4onbqhn0.png"/>
          <p:cNvPicPr>
            <a:picLocks noChangeAspect="1"/>
          </p:cNvPicPr>
          <p:nvPr/>
        </p:nvPicPr>
        <p:blipFill>
          <a:blip r:embed="rId3"/>
          <a:srcRect t="16" b="16"/>
          <a:stretch/>
        </p:blipFill>
        <p:spPr>
          <a:xfrm>
            <a:off x="434340" y="4406330"/>
            <a:ext cx="1548000" cy="154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6:27:04-d2skqm61bb2p4onbqhog.png"/>
          <p:cNvPicPr>
            <a:picLocks noChangeAspect="1"/>
          </p:cNvPicPr>
          <p:nvPr/>
        </p:nvPicPr>
        <p:blipFill>
          <a:blip r:embed="rId4"/>
          <a:srcRect t="16" b="16"/>
          <a:stretch/>
        </p:blipFill>
        <p:spPr>
          <a:xfrm>
            <a:off x="6206490" y="1682815"/>
            <a:ext cx="1548000" cy="154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6:27:04-d2skqm61bb2p4onbqhp0.png"/>
          <p:cNvPicPr>
            <a:picLocks noChangeAspect="1"/>
          </p:cNvPicPr>
          <p:nvPr/>
        </p:nvPicPr>
        <p:blipFill>
          <a:blip r:embed="rId5"/>
          <a:srcRect t="16" b="16"/>
          <a:stretch/>
        </p:blipFill>
        <p:spPr>
          <a:xfrm>
            <a:off x="6255385" y="4406330"/>
            <a:ext cx="1548000" cy="15480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6:27:04-d2skqm61bb2p4onbqhq0.png"/>
          <p:cNvPicPr>
            <a:picLocks noChangeAspect="1"/>
          </p:cNvPicPr>
          <p:nvPr/>
        </p:nvPicPr>
        <p:blipFill>
          <a:blip r:embed="rId6"/>
          <a:srcRect t="16" b="16"/>
          <a:stretch/>
        </p:blipFill>
        <p:spPr>
          <a:xfrm>
            <a:off x="381635" y="1682815"/>
            <a:ext cx="1548000" cy="154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88695" y="539115"/>
            <a:ext cx="1059180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实习题目要求与核心挑战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9577" y="606107"/>
            <a:ext cx="533400" cy="3683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929765" y="1490033"/>
            <a:ext cx="3917315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基础功能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2023640" y="1873598"/>
            <a:ext cx="3742283" cy="562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根据手指触摸轨迹绘制平滑笔迹，支持设置笔迹粗细和颜色，实现基本书写功能。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2028190" y="4195945"/>
            <a:ext cx="3917315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擦除功能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2072402" y="4607452"/>
            <a:ext cx="3779228" cy="8441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橡皮擦经过区域内的笔迹可被擦除，进阶要求为仅擦除区域内笔迹，需对笔迹进行精准分割。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7809230" y="1471617"/>
            <a:ext cx="3917315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圈选功能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7903105" y="1873598"/>
            <a:ext cx="3742283" cy="562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绘制圈选笔迹，闭合后对区域内笔迹进行选中并显示选择框，实现批量操作。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7809230" y="4207376"/>
            <a:ext cx="3917315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7903105" y="4597292"/>
            <a:ext cx="3742283" cy="562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圈选多笔迹时需优化性能，避免因大量计算导致的卡顿，确保流畅体验。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571" y="2326695"/>
            <a:ext cx="0" cy="2962800"/>
          </a:xfrm>
          <a:prstGeom prst="line">
            <a:avLst/>
          </a:prstGeom>
          <a:noFill/>
          <a:ln w="1270">
            <a:solidFill>
              <a:srgbClr val="D9D9D9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10800000">
            <a:off x="4947920" y="4801235"/>
            <a:ext cx="281940" cy="572135"/>
          </a:xfrm>
          <a:custGeom>
            <a:avLst/>
            <a:gdLst/>
            <a:ahLst/>
            <a:cxnLst/>
            <a:rect l="l" t="t" r="r" b="b"/>
            <a:pathLst>
              <a:path w="281940" h="572135">
                <a:moveTo>
                  <a:pt x="198602" y="0"/>
                </a:moveTo>
                <a:lnTo>
                  <a:pt x="208613" y="16257"/>
                </a:lnTo>
                <a:cubicBezTo>
                  <a:pt x="220600" y="30903"/>
                  <a:pt x="235190" y="44865"/>
                  <a:pt x="252003" y="57246"/>
                </a:cubicBezTo>
                <a:lnTo>
                  <a:pt x="263504" y="63694"/>
                </a:lnTo>
                <a:cubicBezTo>
                  <a:pt x="262336" y="63601"/>
                  <a:pt x="159385" y="141345"/>
                  <a:pt x="145495" y="290187"/>
                </a:cubicBezTo>
                <a:lnTo>
                  <a:pt x="281940" y="290187"/>
                </a:lnTo>
                <a:lnTo>
                  <a:pt x="281940" y="572135"/>
                </a:lnTo>
                <a:lnTo>
                  <a:pt x="0" y="572135"/>
                </a:lnTo>
                <a:lnTo>
                  <a:pt x="0" y="319824"/>
                </a:lnTo>
                <a:cubicBezTo>
                  <a:pt x="9900" y="108462"/>
                  <a:pt x="198260" y="2247"/>
                  <a:pt x="198602" y="0"/>
                </a:cubicBezTo>
                <a:close/>
              </a:path>
            </a:pathLst>
          </a:custGeom>
          <a:solidFill>
            <a:srgbClr val="232323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 rot="10800000">
            <a:off x="4574540" y="4801235"/>
            <a:ext cx="281940" cy="572135"/>
          </a:xfrm>
          <a:custGeom>
            <a:avLst/>
            <a:gdLst/>
            <a:ahLst/>
            <a:cxnLst/>
            <a:rect l="l" t="t" r="r" b="b"/>
            <a:pathLst>
              <a:path w="281940" h="572135">
                <a:moveTo>
                  <a:pt x="198602" y="0"/>
                </a:moveTo>
                <a:lnTo>
                  <a:pt x="208613" y="16257"/>
                </a:lnTo>
                <a:cubicBezTo>
                  <a:pt x="220600" y="30903"/>
                  <a:pt x="235190" y="44865"/>
                  <a:pt x="252003" y="57246"/>
                </a:cubicBezTo>
                <a:lnTo>
                  <a:pt x="263504" y="63694"/>
                </a:lnTo>
                <a:cubicBezTo>
                  <a:pt x="262336" y="63601"/>
                  <a:pt x="159385" y="141345"/>
                  <a:pt x="145495" y="290187"/>
                </a:cubicBezTo>
                <a:lnTo>
                  <a:pt x="281940" y="290187"/>
                </a:lnTo>
                <a:lnTo>
                  <a:pt x="281940" y="572135"/>
                </a:lnTo>
                <a:lnTo>
                  <a:pt x="0" y="572135"/>
                </a:lnTo>
                <a:lnTo>
                  <a:pt x="0" y="319824"/>
                </a:lnTo>
                <a:cubicBezTo>
                  <a:pt x="9900" y="108462"/>
                  <a:pt x="198260" y="2247"/>
                  <a:pt x="198602" y="0"/>
                </a:cubicBezTo>
                <a:close/>
              </a:path>
            </a:pathLst>
          </a:custGeom>
          <a:solidFill>
            <a:srgbClr val="232323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rot="10800000" flipH="1" flipV="1">
            <a:off x="1588135" y="2185670"/>
            <a:ext cx="281940" cy="572135"/>
          </a:xfrm>
          <a:custGeom>
            <a:avLst/>
            <a:gdLst/>
            <a:ahLst/>
            <a:cxnLst/>
            <a:rect l="l" t="t" r="r" b="b"/>
            <a:pathLst>
              <a:path w="281940" h="572135">
                <a:moveTo>
                  <a:pt x="198602" y="0"/>
                </a:moveTo>
                <a:lnTo>
                  <a:pt x="208613" y="16257"/>
                </a:lnTo>
                <a:cubicBezTo>
                  <a:pt x="220600" y="30903"/>
                  <a:pt x="235190" y="44865"/>
                  <a:pt x="252003" y="57246"/>
                </a:cubicBezTo>
                <a:lnTo>
                  <a:pt x="263504" y="63694"/>
                </a:lnTo>
                <a:cubicBezTo>
                  <a:pt x="262336" y="63601"/>
                  <a:pt x="159385" y="141345"/>
                  <a:pt x="145495" y="290187"/>
                </a:cubicBezTo>
                <a:lnTo>
                  <a:pt x="281940" y="290187"/>
                </a:lnTo>
                <a:lnTo>
                  <a:pt x="281940" y="572135"/>
                </a:lnTo>
                <a:lnTo>
                  <a:pt x="0" y="572135"/>
                </a:lnTo>
                <a:lnTo>
                  <a:pt x="0" y="319824"/>
                </a:lnTo>
                <a:cubicBezTo>
                  <a:pt x="9900" y="108462"/>
                  <a:pt x="198260" y="2247"/>
                  <a:pt x="198602" y="0"/>
                </a:cubicBezTo>
                <a:close/>
              </a:path>
            </a:pathLst>
          </a:custGeom>
          <a:solidFill>
            <a:srgbClr val="232323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rot="10800000" flipH="1" flipV="1">
            <a:off x="1961515" y="2185670"/>
            <a:ext cx="281940" cy="572135"/>
          </a:xfrm>
          <a:custGeom>
            <a:avLst/>
            <a:gdLst/>
            <a:ahLst/>
            <a:cxnLst/>
            <a:rect l="l" t="t" r="r" b="b"/>
            <a:pathLst>
              <a:path w="281940" h="572135">
                <a:moveTo>
                  <a:pt x="198602" y="0"/>
                </a:moveTo>
                <a:lnTo>
                  <a:pt x="208613" y="16257"/>
                </a:lnTo>
                <a:cubicBezTo>
                  <a:pt x="220600" y="30903"/>
                  <a:pt x="235190" y="44865"/>
                  <a:pt x="252003" y="57246"/>
                </a:cubicBezTo>
                <a:lnTo>
                  <a:pt x="263504" y="63694"/>
                </a:lnTo>
                <a:cubicBezTo>
                  <a:pt x="262336" y="63601"/>
                  <a:pt x="159385" y="141345"/>
                  <a:pt x="145495" y="290187"/>
                </a:cubicBezTo>
                <a:lnTo>
                  <a:pt x="281940" y="290187"/>
                </a:lnTo>
                <a:lnTo>
                  <a:pt x="281940" y="572135"/>
                </a:lnTo>
                <a:lnTo>
                  <a:pt x="0" y="572135"/>
                </a:lnTo>
                <a:lnTo>
                  <a:pt x="0" y="319824"/>
                </a:lnTo>
                <a:cubicBezTo>
                  <a:pt x="9900" y="108462"/>
                  <a:pt x="198260" y="2247"/>
                  <a:pt x="198602" y="0"/>
                </a:cubicBezTo>
                <a:close/>
              </a:path>
            </a:pathLst>
          </a:custGeom>
          <a:solidFill>
            <a:srgbClr val="232323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3940" y="1689735"/>
            <a:ext cx="10058400" cy="4236720"/>
          </a:xfrm>
          <a:prstGeom prst="roundRect">
            <a:avLst>
              <a:gd name="adj" fmla="val 6372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8060" y="7042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技术选型与总体架构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33245" y="3216275"/>
            <a:ext cx="3151505" cy="5119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17029" y="2557527"/>
            <a:ext cx="5078185" cy="1429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 React + TypeScript + Canvas </a:t>
            </a:r>
            <a:r>
              <a:rPr lang="en-US" sz="20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技术栈，以Zustand集中管理状态</a:t>
            </a:r>
            <a:r>
              <a:rPr lang="zh-CN" altLang="en-US" sz="20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Canvas负责自绘</a:t>
            </a:r>
            <a:r>
              <a:rPr lang="en-US" sz="20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笔迹生成与平滑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0107114" y="4558299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15535" y="151783"/>
                </a:moveTo>
                <a:lnTo>
                  <a:pt x="242350" y="178492"/>
                </a:lnTo>
                <a:cubicBezTo>
                  <a:pt x="255477" y="191568"/>
                  <a:pt x="262770" y="209002"/>
                  <a:pt x="262770" y="227554"/>
                </a:cubicBezTo>
                <a:cubicBezTo>
                  <a:pt x="262770" y="246217"/>
                  <a:pt x="255477" y="263651"/>
                  <a:pt x="242350" y="276726"/>
                </a:cubicBezTo>
                <a:lnTo>
                  <a:pt x="145971" y="372837"/>
                </a:lnTo>
                <a:cubicBezTo>
                  <a:pt x="132283" y="386360"/>
                  <a:pt x="114443" y="393065"/>
                  <a:pt x="96603" y="393065"/>
                </a:cubicBezTo>
                <a:cubicBezTo>
                  <a:pt x="78651" y="393065"/>
                  <a:pt x="60812" y="386360"/>
                  <a:pt x="47235" y="372837"/>
                </a:cubicBezTo>
                <a:lnTo>
                  <a:pt x="20420" y="346127"/>
                </a:lnTo>
                <a:cubicBezTo>
                  <a:pt x="7293" y="333052"/>
                  <a:pt x="0" y="315618"/>
                  <a:pt x="0" y="296955"/>
                </a:cubicBezTo>
                <a:cubicBezTo>
                  <a:pt x="0" y="278403"/>
                  <a:pt x="7293" y="260969"/>
                  <a:pt x="20533" y="247893"/>
                </a:cubicBezTo>
                <a:lnTo>
                  <a:pt x="97052" y="171563"/>
                </a:lnTo>
                <a:lnTo>
                  <a:pt x="126672" y="201179"/>
                </a:lnTo>
                <a:lnTo>
                  <a:pt x="50153" y="277397"/>
                </a:lnTo>
                <a:cubicBezTo>
                  <a:pt x="44880" y="282650"/>
                  <a:pt x="41962" y="289579"/>
                  <a:pt x="41962" y="296955"/>
                </a:cubicBezTo>
                <a:cubicBezTo>
                  <a:pt x="41962" y="304442"/>
                  <a:pt x="44880" y="311371"/>
                  <a:pt x="50153" y="316623"/>
                </a:cubicBezTo>
                <a:lnTo>
                  <a:pt x="76856" y="343222"/>
                </a:lnTo>
                <a:cubicBezTo>
                  <a:pt x="87739" y="354062"/>
                  <a:pt x="105355" y="354062"/>
                  <a:pt x="116238" y="343222"/>
                </a:cubicBezTo>
                <a:lnTo>
                  <a:pt x="212617" y="247223"/>
                </a:lnTo>
                <a:cubicBezTo>
                  <a:pt x="217890" y="241970"/>
                  <a:pt x="220808" y="235041"/>
                  <a:pt x="220808" y="227554"/>
                </a:cubicBezTo>
                <a:cubicBezTo>
                  <a:pt x="220808" y="220178"/>
                  <a:pt x="217890" y="213249"/>
                  <a:pt x="212617" y="207996"/>
                </a:cubicBezTo>
                <a:lnTo>
                  <a:pt x="185914" y="181398"/>
                </a:lnTo>
                <a:close/>
                <a:moveTo>
                  <a:pt x="289589" y="0"/>
                </a:moveTo>
                <a:cubicBezTo>
                  <a:pt x="308214" y="0"/>
                  <a:pt x="325717" y="7265"/>
                  <a:pt x="338957" y="20340"/>
                </a:cubicBezTo>
                <a:lnTo>
                  <a:pt x="365660" y="47050"/>
                </a:lnTo>
                <a:cubicBezTo>
                  <a:pt x="378787" y="60125"/>
                  <a:pt x="386080" y="77559"/>
                  <a:pt x="386080" y="96110"/>
                </a:cubicBezTo>
                <a:cubicBezTo>
                  <a:pt x="386080" y="114662"/>
                  <a:pt x="378787" y="132208"/>
                  <a:pt x="365660" y="145284"/>
                </a:cubicBezTo>
                <a:lnTo>
                  <a:pt x="289140" y="221502"/>
                </a:lnTo>
                <a:lnTo>
                  <a:pt x="259408" y="191998"/>
                </a:lnTo>
                <a:lnTo>
                  <a:pt x="335927" y="115780"/>
                </a:lnTo>
                <a:cubicBezTo>
                  <a:pt x="341200" y="110527"/>
                  <a:pt x="344118" y="103598"/>
                  <a:pt x="344118" y="96110"/>
                </a:cubicBezTo>
                <a:cubicBezTo>
                  <a:pt x="344118" y="88735"/>
                  <a:pt x="341200" y="81806"/>
                  <a:pt x="335927" y="76554"/>
                </a:cubicBezTo>
                <a:lnTo>
                  <a:pt x="309224" y="49955"/>
                </a:lnTo>
                <a:cubicBezTo>
                  <a:pt x="303950" y="44703"/>
                  <a:pt x="296994" y="41797"/>
                  <a:pt x="289589" y="41797"/>
                </a:cubicBezTo>
                <a:cubicBezTo>
                  <a:pt x="282184" y="41797"/>
                  <a:pt x="275115" y="44703"/>
                  <a:pt x="269954" y="49955"/>
                </a:cubicBezTo>
                <a:lnTo>
                  <a:pt x="173463" y="145954"/>
                </a:lnTo>
                <a:cubicBezTo>
                  <a:pt x="168190" y="151206"/>
                  <a:pt x="165385" y="158135"/>
                  <a:pt x="165385" y="165511"/>
                </a:cubicBezTo>
                <a:cubicBezTo>
                  <a:pt x="165385" y="172999"/>
                  <a:pt x="168190" y="179928"/>
                  <a:pt x="173463" y="185181"/>
                </a:cubicBezTo>
                <a:lnTo>
                  <a:pt x="200278" y="211778"/>
                </a:lnTo>
                <a:lnTo>
                  <a:pt x="170546" y="241282"/>
                </a:lnTo>
                <a:lnTo>
                  <a:pt x="143843" y="214685"/>
                </a:lnTo>
                <a:cubicBezTo>
                  <a:pt x="130603" y="201609"/>
                  <a:pt x="123310" y="184175"/>
                  <a:pt x="123310" y="165511"/>
                </a:cubicBezTo>
                <a:cubicBezTo>
                  <a:pt x="123310" y="146960"/>
                  <a:pt x="130603" y="129526"/>
                  <a:pt x="143843" y="116339"/>
                </a:cubicBezTo>
                <a:lnTo>
                  <a:pt x="240221" y="20340"/>
                </a:lnTo>
                <a:cubicBezTo>
                  <a:pt x="253349" y="7265"/>
                  <a:pt x="270964" y="0"/>
                  <a:pt x="28958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1928495" y="4533627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63970" y="158609"/>
                </a:moveTo>
                <a:cubicBezTo>
                  <a:pt x="272951" y="158609"/>
                  <a:pt x="280396" y="166129"/>
                  <a:pt x="280396" y="175273"/>
                </a:cubicBezTo>
                <a:lnTo>
                  <a:pt x="280396" y="247883"/>
                </a:lnTo>
                <a:cubicBezTo>
                  <a:pt x="279569" y="257027"/>
                  <a:pt x="272951" y="264547"/>
                  <a:pt x="263970" y="264547"/>
                </a:cubicBezTo>
                <a:cubicBezTo>
                  <a:pt x="254930" y="264547"/>
                  <a:pt x="247603" y="257027"/>
                  <a:pt x="247603" y="247883"/>
                </a:cubicBezTo>
                <a:lnTo>
                  <a:pt x="247603" y="175273"/>
                </a:lnTo>
                <a:cubicBezTo>
                  <a:pt x="247603" y="166129"/>
                  <a:pt x="254989" y="158609"/>
                  <a:pt x="263970" y="158609"/>
                </a:cubicBezTo>
                <a:close/>
                <a:moveTo>
                  <a:pt x="192695" y="108549"/>
                </a:moveTo>
                <a:cubicBezTo>
                  <a:pt x="201676" y="108549"/>
                  <a:pt x="209062" y="116069"/>
                  <a:pt x="209062" y="125213"/>
                </a:cubicBezTo>
                <a:lnTo>
                  <a:pt x="209062" y="247883"/>
                </a:lnTo>
                <a:cubicBezTo>
                  <a:pt x="209062" y="257027"/>
                  <a:pt x="201676" y="264547"/>
                  <a:pt x="192695" y="264547"/>
                </a:cubicBezTo>
                <a:cubicBezTo>
                  <a:pt x="183596" y="264547"/>
                  <a:pt x="176270" y="257027"/>
                  <a:pt x="176270" y="247883"/>
                </a:cubicBezTo>
                <a:lnTo>
                  <a:pt x="176270" y="125213"/>
                </a:lnTo>
                <a:cubicBezTo>
                  <a:pt x="176270" y="116069"/>
                  <a:pt x="183714" y="108549"/>
                  <a:pt x="192695" y="108549"/>
                </a:cubicBezTo>
                <a:close/>
                <a:moveTo>
                  <a:pt x="121353" y="70076"/>
                </a:moveTo>
                <a:cubicBezTo>
                  <a:pt x="130338" y="70076"/>
                  <a:pt x="137727" y="77657"/>
                  <a:pt x="137727" y="86803"/>
                </a:cubicBezTo>
                <a:lnTo>
                  <a:pt x="137727" y="247880"/>
                </a:lnTo>
                <a:cubicBezTo>
                  <a:pt x="137727" y="257026"/>
                  <a:pt x="130338" y="264547"/>
                  <a:pt x="121353" y="264547"/>
                </a:cubicBezTo>
                <a:cubicBezTo>
                  <a:pt x="112309" y="264547"/>
                  <a:pt x="104980" y="257026"/>
                  <a:pt x="104980" y="247880"/>
                </a:cubicBezTo>
                <a:lnTo>
                  <a:pt x="104980" y="86803"/>
                </a:lnTo>
                <a:cubicBezTo>
                  <a:pt x="104980" y="77657"/>
                  <a:pt x="112369" y="70076"/>
                  <a:pt x="121353" y="70076"/>
                </a:cubicBezTo>
                <a:close/>
                <a:moveTo>
                  <a:pt x="54909" y="33392"/>
                </a:moveTo>
                <a:lnTo>
                  <a:pt x="54909" y="301312"/>
                </a:lnTo>
                <a:lnTo>
                  <a:pt x="329575" y="301312"/>
                </a:lnTo>
                <a:lnTo>
                  <a:pt x="329575" y="33392"/>
                </a:lnTo>
                <a:close/>
                <a:moveTo>
                  <a:pt x="16372" y="0"/>
                </a:moveTo>
                <a:lnTo>
                  <a:pt x="369767" y="0"/>
                </a:lnTo>
                <a:cubicBezTo>
                  <a:pt x="378751" y="0"/>
                  <a:pt x="386139" y="7521"/>
                  <a:pt x="386080" y="16666"/>
                </a:cubicBezTo>
                <a:cubicBezTo>
                  <a:pt x="386080" y="25811"/>
                  <a:pt x="377864" y="33392"/>
                  <a:pt x="368880" y="33392"/>
                </a:cubicBezTo>
                <a:lnTo>
                  <a:pt x="362319" y="33392"/>
                </a:lnTo>
                <a:lnTo>
                  <a:pt x="362319" y="317135"/>
                </a:lnTo>
                <a:cubicBezTo>
                  <a:pt x="362319" y="327123"/>
                  <a:pt x="354931" y="333801"/>
                  <a:pt x="345947" y="333801"/>
                </a:cubicBezTo>
                <a:lnTo>
                  <a:pt x="303332" y="333801"/>
                </a:lnTo>
                <a:lnTo>
                  <a:pt x="303332" y="376399"/>
                </a:lnTo>
                <a:cubicBezTo>
                  <a:pt x="303332" y="385544"/>
                  <a:pt x="295884" y="393065"/>
                  <a:pt x="286900" y="393065"/>
                </a:cubicBezTo>
                <a:cubicBezTo>
                  <a:pt x="277916" y="393065"/>
                  <a:pt x="270528" y="385544"/>
                  <a:pt x="270528" y="376399"/>
                </a:cubicBezTo>
                <a:lnTo>
                  <a:pt x="270528" y="333801"/>
                </a:lnTo>
                <a:lnTo>
                  <a:pt x="114725" y="333801"/>
                </a:lnTo>
                <a:lnTo>
                  <a:pt x="114725" y="376399"/>
                </a:lnTo>
                <a:cubicBezTo>
                  <a:pt x="114725" y="385544"/>
                  <a:pt x="107336" y="393065"/>
                  <a:pt x="98352" y="393065"/>
                </a:cubicBezTo>
                <a:cubicBezTo>
                  <a:pt x="89368" y="393065"/>
                  <a:pt x="81921" y="385544"/>
                  <a:pt x="81921" y="376399"/>
                </a:cubicBezTo>
                <a:lnTo>
                  <a:pt x="81921" y="333801"/>
                </a:lnTo>
                <a:lnTo>
                  <a:pt x="39305" y="333801"/>
                </a:lnTo>
                <a:cubicBezTo>
                  <a:pt x="30321" y="333801"/>
                  <a:pt x="22933" y="326281"/>
                  <a:pt x="22933" y="317135"/>
                </a:cubicBezTo>
                <a:lnTo>
                  <a:pt x="22933" y="33392"/>
                </a:lnTo>
                <a:lnTo>
                  <a:pt x="16372" y="33392"/>
                </a:lnTo>
                <a:cubicBezTo>
                  <a:pt x="7388" y="33392"/>
                  <a:pt x="0" y="25811"/>
                  <a:pt x="0" y="16666"/>
                </a:cubicBezTo>
                <a:cubicBezTo>
                  <a:pt x="0" y="7521"/>
                  <a:pt x="7388" y="0"/>
                  <a:pt x="1637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2" descr="https://kimi-img.moonshot.cn/pub/slides/slides_tmpl/image/25-09-04-16:27:03-d2skqlu1bb2p4onbqhl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3" descr="https://kimi-img.moonshot.cn/pub/slides/slides_tmpl/image/25-09-04-16:27:03-d2skqlu1bb2p4onbqhl0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8060" y="5137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三阶段笔迹生命周期设计</a:t>
            </a:r>
            <a:endParaRPr lang="en-US" sz="1600" dirty="0"/>
          </a:p>
        </p:txBody>
      </p:sp>
      <p:pic>
        <p:nvPicPr>
          <p:cNvPr id="10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56221" y="2310611"/>
            <a:ext cx="1715407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开始绘制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04157" y="2908145"/>
            <a:ext cx="2490064" cy="1026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按下鼠标时，创建临时笔触存储在currentStroke</a:t>
            </a:r>
            <a:r>
              <a:rPr lang="en-US" sz="16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中，尚未保存到画布。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958897" y="2391107"/>
            <a:ext cx="1484267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绘制中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255271" y="2950622"/>
            <a:ext cx="2737670" cy="8703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鼠标移动时，持续添加点到当前笔触，保持不可变性，实时渲染到画布上。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680269" y="2256364"/>
            <a:ext cx="1484267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结束绘制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139245" y="3000024"/>
            <a:ext cx="2737670" cy="8703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鼠标抬起时，完成笔触并保存到画布，清空临时笔触，保存状态到撤销栈。</a:t>
            </a:r>
            <a:endParaRPr lang="en-US" sz="16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C8C3835-EE34-7EFB-1867-D23EA8A41264}"/>
              </a:ext>
            </a:extLst>
          </p:cNvPr>
          <p:cNvCxnSpPr/>
          <p:nvPr/>
        </p:nvCxnSpPr>
        <p:spPr>
          <a:xfrm>
            <a:off x="3404508" y="3314699"/>
            <a:ext cx="6368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DC52436-342A-2342-649A-8F36537D021E}"/>
              </a:ext>
            </a:extLst>
          </p:cNvPr>
          <p:cNvCxnSpPr/>
          <p:nvPr/>
        </p:nvCxnSpPr>
        <p:spPr>
          <a:xfrm>
            <a:off x="7026729" y="3284762"/>
            <a:ext cx="6368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3946D92-4DCA-4AE1-65EA-089916741C18}"/>
              </a:ext>
            </a:extLst>
          </p:cNvPr>
          <p:cNvSpPr/>
          <p:nvPr/>
        </p:nvSpPr>
        <p:spPr>
          <a:xfrm>
            <a:off x="428942" y="2191052"/>
            <a:ext cx="2933657" cy="23425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859249-F8A5-ABF8-D40C-38D719A800AA}"/>
              </a:ext>
            </a:extLst>
          </p:cNvPr>
          <p:cNvSpPr/>
          <p:nvPr/>
        </p:nvSpPr>
        <p:spPr>
          <a:xfrm>
            <a:off x="4255271" y="2204659"/>
            <a:ext cx="2665594" cy="23425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C4CF75-3447-4126-2850-7CE6D63EDFFE}"/>
              </a:ext>
            </a:extLst>
          </p:cNvPr>
          <p:cNvSpPr/>
          <p:nvPr/>
        </p:nvSpPr>
        <p:spPr>
          <a:xfrm>
            <a:off x="8014651" y="2165180"/>
            <a:ext cx="2933657" cy="23425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260" y="1929130"/>
            <a:ext cx="4984750" cy="3945255"/>
          </a:xfrm>
          <a:custGeom>
            <a:avLst/>
            <a:gdLst/>
            <a:ahLst/>
            <a:cxnLst/>
            <a:rect l="l" t="t" r="r" b="b"/>
            <a:pathLst>
              <a:path w="4984750" h="3945255">
                <a:moveTo>
                  <a:pt x="0" y="0"/>
                </a:moveTo>
                <a:lnTo>
                  <a:pt x="4984750" y="0"/>
                </a:lnTo>
                <a:lnTo>
                  <a:pt x="4117340" y="3945255"/>
                </a:lnTo>
                <a:lnTo>
                  <a:pt x="0" y="3945255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3810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00420" y="1929130"/>
            <a:ext cx="4963795" cy="3945255"/>
          </a:xfrm>
          <a:custGeom>
            <a:avLst/>
            <a:gdLst/>
            <a:ahLst/>
            <a:cxnLst/>
            <a:rect l="l" t="t" r="r" b="b"/>
            <a:pathLst>
              <a:path w="4963795" h="3945255">
                <a:moveTo>
                  <a:pt x="867410" y="0"/>
                </a:moveTo>
                <a:lnTo>
                  <a:pt x="4963795" y="0"/>
                </a:lnTo>
                <a:lnTo>
                  <a:pt x="4963795" y="3945255"/>
                </a:lnTo>
                <a:lnTo>
                  <a:pt x="0" y="3945255"/>
                </a:lnTo>
                <a:lnTo>
                  <a:pt x="867410" y="0"/>
                </a:lnTo>
                <a:close/>
              </a:path>
            </a:pathLst>
          </a:custGeom>
          <a:solidFill>
            <a:srgbClr val="EBEBEB"/>
          </a:solidFill>
          <a:ln w="3810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88060" y="7042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Catmull-Rom 样条实时平滑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9370" y="2255520"/>
            <a:ext cx="493522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平滑算法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09370" y="2900680"/>
            <a:ext cx="4190281" cy="1234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Catmull-Rom 样条曲线算法，通过四个控制点生成平滑曲线，提升笔迹视觉效果。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69940" y="2255520"/>
            <a:ext cx="493522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高亮笔处理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879" y="2900680"/>
            <a:ext cx="4190281" cy="823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高亮笔采用 multiply 混合模式，使颜色与底层内容混合，模拟荧光效果。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橡皮擦切割算法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rgbClr val="2323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28942" y="4055745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rgbClr val="2323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88060" y="7042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擦除功能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23710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417320" y="2371090"/>
            <a:ext cx="788035" cy="788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52370" y="2000250"/>
            <a:ext cx="82118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切割逻辑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52370" y="2515870"/>
            <a:ext cx="8175625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橡皮擦划过笔触时，采用切割算法，将被擦除部分切割掉，保留未被擦除部分，生成新笔触段。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1732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417320" y="4669790"/>
            <a:ext cx="788035" cy="788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452370" y="4298950"/>
            <a:ext cx="82118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452370" y="4814570"/>
            <a:ext cx="8175625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dirty="0"/>
              <a:t>为每个笔触计算边界框（</a:t>
            </a:r>
            <a:r>
              <a:rPr lang="en-US" altLang="zh-CN" dirty="0"/>
              <a:t>Bounding Box</a:t>
            </a:r>
            <a:r>
              <a:rPr lang="zh-CN" altLang="en-US" dirty="0"/>
              <a:t>），考虑笔触宽度。先判断笔触的边界框是否与橡皮擦圆形区域相交</a:t>
            </a:r>
          </a:p>
          <a:p>
            <a:r>
              <a:rPr lang="zh-CN" altLang="en-US" dirty="0"/>
              <a:t>   </a:t>
            </a:r>
            <a:r>
              <a:rPr lang="en-US" altLang="zh-CN" dirty="0"/>
              <a:t>-</a:t>
            </a:r>
            <a:r>
              <a:rPr lang="zh-CN" altLang="en-US" dirty="0"/>
              <a:t> 如果边界框不相交，直接跳过该笔触（</a:t>
            </a:r>
            <a:r>
              <a:rPr lang="en-US" altLang="zh-CN" dirty="0"/>
              <a:t>O(1) </a:t>
            </a:r>
            <a:r>
              <a:rPr lang="zh-CN" altLang="en-US" dirty="0"/>
              <a:t>操作）</a:t>
            </a:r>
          </a:p>
          <a:p>
            <a:r>
              <a:rPr lang="zh-CN" altLang="en-US" dirty="0"/>
              <a:t>   </a:t>
            </a:r>
            <a:r>
              <a:rPr lang="en-US" altLang="zh-CN" dirty="0"/>
              <a:t>-</a:t>
            </a:r>
            <a:r>
              <a:rPr lang="zh-CN" altLang="en-US" dirty="0"/>
              <a:t> 只有边界框相交的笔触，才进行详细的点距离计算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1-d2skqle1bb2p4onbqhdg.jpg"/>
          <p:cNvPicPr>
            <a:picLocks noChangeAspect="1"/>
          </p:cNvPicPr>
          <p:nvPr/>
        </p:nvPicPr>
        <p:blipFill>
          <a:blip r:embed="rId3"/>
          <a:srcRect t="51" b="51"/>
          <a:stretch/>
        </p:blipFill>
        <p:spPr>
          <a:xfrm>
            <a:off x="1127760" y="1796415"/>
            <a:ext cx="9874885" cy="18637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988060" y="7042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坐标变换下的精准命中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7760" y="3951605"/>
            <a:ext cx="9832975" cy="438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坐标转换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27760" y="4505325"/>
            <a:ext cx="9832975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将屏幕坐标转换为画布坐标，考虑缩放和平移，确保擦除动作精准命中。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圈选与批量操作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" y="-3175"/>
            <a:ext cx="12224385" cy="3855085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slides_tmpl/image/25-09-04-16:27:03-d2skqlu1bb2p4onbqhj0.png"/>
          <p:cNvPicPr>
            <a:picLocks noChangeAspect="1"/>
          </p:cNvPicPr>
          <p:nvPr/>
        </p:nvPicPr>
        <p:blipFill>
          <a:blip r:embed="rId3"/>
          <a:srcRect t="5" b="5"/>
          <a:stretch/>
        </p:blipFill>
        <p:spPr>
          <a:xfrm>
            <a:off x="608965" y="1366655"/>
            <a:ext cx="3243243" cy="21600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3-d2skqlu1bb2p4onbqhjg.png"/>
          <p:cNvPicPr>
            <a:picLocks noChangeAspect="1"/>
          </p:cNvPicPr>
          <p:nvPr/>
        </p:nvPicPr>
        <p:blipFill>
          <a:blip r:embed="rId4"/>
          <a:srcRect l="8" r="8"/>
          <a:stretch/>
        </p:blipFill>
        <p:spPr>
          <a:xfrm>
            <a:off x="8332133" y="1366655"/>
            <a:ext cx="3242945" cy="21600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6:27:03-d2skqlu1bb2p4onbqhk0.png"/>
          <p:cNvPicPr>
            <a:picLocks noChangeAspect="1"/>
          </p:cNvPicPr>
          <p:nvPr/>
        </p:nvPicPr>
        <p:blipFill>
          <a:blip r:embed="rId5"/>
          <a:srcRect l="8" r="8"/>
          <a:stretch/>
        </p:blipFill>
        <p:spPr>
          <a:xfrm>
            <a:off x="4470698" y="1366655"/>
            <a:ext cx="3242945" cy="2160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0494645" y="950595"/>
            <a:ext cx="1080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2"/>
          <p:cNvSpPr/>
          <p:nvPr/>
        </p:nvSpPr>
        <p:spPr>
          <a:xfrm>
            <a:off x="988695" y="367665"/>
            <a:ext cx="6344285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套索路径与射线投射算法</a:t>
            </a:r>
            <a:endParaRPr lang="en-US" sz="1600" dirty="0"/>
          </a:p>
        </p:txBody>
      </p:sp>
      <p:pic>
        <p:nvPicPr>
          <p:cNvPr id="8" name="Image 3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9577" y="434657"/>
            <a:ext cx="533400" cy="368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82930" y="3932555"/>
            <a:ext cx="340868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套索绘制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27380" y="4619625"/>
            <a:ext cx="3408680" cy="591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zh-CN" alt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鼠标移动</a:t>
            </a:r>
            <a:r>
              <a:rPr lang="en-US" sz="14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轨迹绘制虚线套索，闭合后形成多边形</a:t>
            </a:r>
            <a:r>
              <a:rPr 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416425" y="3932555"/>
            <a:ext cx="340868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笔触检测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460875" y="4619625"/>
            <a:ext cx="3355975" cy="25224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使用射线投射算法判断笔触是否在套索内，实现精准选中</a:t>
            </a:r>
            <a:r>
              <a:rPr 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-&gt;</a:t>
            </a:r>
            <a:r>
              <a:rPr lang="zh-CN" alt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优化后，</a:t>
            </a:r>
            <a:r>
              <a:rPr lang="zh-CN" altLang="en-US" dirty="0"/>
              <a:t>判断笔触的边界框是否与套索边界框相交</a:t>
            </a:r>
          </a:p>
          <a:p>
            <a:r>
              <a:rPr lang="zh-CN" altLang="en-US" dirty="0"/>
              <a:t>   </a:t>
            </a:r>
            <a:r>
              <a:rPr lang="en-US" altLang="zh-CN" dirty="0"/>
              <a:t>-</a:t>
            </a:r>
            <a:r>
              <a:rPr lang="zh-CN" altLang="en-US" dirty="0"/>
              <a:t> 如果边界框不相交，直接跳过该笔触（</a:t>
            </a:r>
            <a:r>
              <a:rPr lang="en-US" altLang="zh-CN" dirty="0"/>
              <a:t>O(1) </a:t>
            </a:r>
            <a:r>
              <a:rPr lang="zh-CN" altLang="en-US" dirty="0"/>
              <a:t>操作）</a:t>
            </a:r>
          </a:p>
          <a:p>
            <a:r>
              <a:rPr lang="zh-CN" altLang="en-US" dirty="0"/>
              <a:t>   </a:t>
            </a:r>
            <a:r>
              <a:rPr lang="en-US" altLang="zh-CN" dirty="0"/>
              <a:t>-</a:t>
            </a:r>
            <a:r>
              <a:rPr lang="zh-CN" altLang="en-US" dirty="0"/>
              <a:t> 只有边界框相交的笔触，才进行详细的多边形包含判断</a:t>
            </a:r>
          </a:p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249920" y="3932555"/>
            <a:ext cx="340868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边界框计算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294370" y="4619625"/>
            <a:ext cx="3355975" cy="562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计算选中笔触的边界框，生成选择框用于后续批量操作。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32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5400000">
            <a:off x="130937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080" y="1448435"/>
            <a:ext cx="536575" cy="7683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7850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 rot="5400000">
            <a:off x="414655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1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3"/>
          <a:srcRect l="249" r="249"/>
          <a:stretch/>
        </p:blipFill>
        <p:spPr>
          <a:xfrm>
            <a:off x="4366260" y="1448435"/>
            <a:ext cx="532130" cy="7651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698373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3"/>
          <a:srcRect l="249" r="249"/>
          <a:stretch/>
        </p:blipFill>
        <p:spPr>
          <a:xfrm>
            <a:off x="7203440" y="1448435"/>
            <a:ext cx="532130" cy="7651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883650" y="221361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7"/>
          <p:cNvSpPr/>
          <p:nvPr/>
        </p:nvSpPr>
        <p:spPr>
          <a:xfrm rot="5400000">
            <a:off x="982091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3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3"/>
          <a:srcRect l="249" r="249"/>
          <a:stretch/>
        </p:blipFill>
        <p:spPr>
          <a:xfrm>
            <a:off x="10040620" y="1448435"/>
            <a:ext cx="532130" cy="7651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6708775"/>
            <a:ext cx="1773555" cy="1492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9"/>
          <p:cNvSpPr/>
          <p:nvPr/>
        </p:nvSpPr>
        <p:spPr>
          <a:xfrm>
            <a:off x="988060" y="513715"/>
            <a:ext cx="10534650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多笔迹性能优化</a:t>
            </a:r>
            <a:endParaRPr lang="en-US" sz="1600" dirty="0"/>
          </a:p>
        </p:txBody>
      </p:sp>
      <p:pic>
        <p:nvPicPr>
          <p:cNvPr id="16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8170" y="2317115"/>
            <a:ext cx="258699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98170" y="3023235"/>
            <a:ext cx="2495550" cy="9688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采用多项优化策略，包括使用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ID数组存储选中状态，减少内存占用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401695" y="2317115"/>
            <a:ext cx="258699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选择框缓存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3401695" y="3023235"/>
            <a:ext cx="2495550" cy="1999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选择框计算一次后缓存</a:t>
            </a:r>
            <a:r>
              <a:rPr lang="en-US" altLang="zh-CN" dirty="0" err="1"/>
              <a:t>electionBox</a:t>
            </a:r>
            <a:endParaRPr lang="en-US" altLang="zh-CN" dirty="0"/>
          </a:p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4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移动时直接更新位置，避免重复计算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。-&gt;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优化：</a:t>
            </a:r>
            <a:r>
              <a:rPr lang="zh-CN" altLang="en-US" sz="1400" dirty="0"/>
              <a:t>本地预览 </a:t>
            </a:r>
            <a:r>
              <a:rPr lang="en-US" altLang="zh-CN" sz="1400" dirty="0"/>
              <a:t>+ </a:t>
            </a:r>
            <a:r>
              <a:rPr lang="zh-CN" altLang="en-US" sz="1400" dirty="0"/>
              <a:t>延迟提交。</a:t>
            </a:r>
          </a:p>
          <a:p>
            <a:pPr algn="just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238875" y="2317115"/>
            <a:ext cx="258699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批量移动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238875" y="2677006"/>
            <a:ext cx="2495550" cy="5972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仅更新选中笔触坐标，同步更新选择框，考虑视图缩放。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076055" y="2317115"/>
            <a:ext cx="258699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查询优化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076055" y="3023235"/>
            <a:ext cx="2495550" cy="5972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预生成 Set 替代 includes，将查询复杂度降低至 O(1)。</a:t>
            </a:r>
            <a:endParaRPr lang="en-US" sz="16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28E83F9-C29D-85AE-7E0B-C295447CE9DF}"/>
              </a:ext>
            </a:extLst>
          </p:cNvPr>
          <p:cNvSpPr/>
          <p:nvPr/>
        </p:nvSpPr>
        <p:spPr>
          <a:xfrm>
            <a:off x="6255385" y="3766304"/>
            <a:ext cx="2495550" cy="4049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FEBE8026-6300-A494-B97D-9FEC84884B7B}"/>
              </a:ext>
            </a:extLst>
          </p:cNvPr>
          <p:cNvSpPr/>
          <p:nvPr/>
        </p:nvSpPr>
        <p:spPr>
          <a:xfrm>
            <a:off x="6221730" y="3339068"/>
            <a:ext cx="2495550" cy="2246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1400" dirty="0"/>
              <a:t>每次鼠标移动都会：调用 </a:t>
            </a:r>
            <a:r>
              <a:rPr lang="en-US" altLang="zh-CN" sz="1400" dirty="0" err="1"/>
              <a:t>moveSelectedStrokes</a:t>
            </a:r>
            <a:r>
              <a:rPr lang="en-US" altLang="zh-CN" sz="1400" dirty="0"/>
              <a:t>(dx, </a:t>
            </a:r>
            <a:r>
              <a:rPr lang="en-US" altLang="zh-CN" sz="1400" dirty="0" err="1"/>
              <a:t>dy</a:t>
            </a:r>
            <a:r>
              <a:rPr lang="en-US" altLang="zh-CN" sz="1400" dirty="0"/>
              <a:t>)</a:t>
            </a:r>
            <a:endParaRPr lang="zh-CN" altLang="en-US" sz="1400" dirty="0"/>
          </a:p>
          <a:p>
            <a:r>
              <a:rPr lang="zh-CN" altLang="en-US" sz="1400" dirty="0"/>
              <a:t>遍历所有笔触，更新选中笔触的所有点坐标</a:t>
            </a:r>
          </a:p>
          <a:p>
            <a:r>
              <a:rPr lang="zh-CN" altLang="en-US" sz="1400" dirty="0"/>
              <a:t>触发状态更新，导致整个画布重新渲染</a:t>
            </a:r>
            <a:r>
              <a:rPr lang="en-US" altLang="zh-CN" sz="1400" dirty="0"/>
              <a:t>-&gt;</a:t>
            </a:r>
            <a:r>
              <a:rPr lang="zh-CN" altLang="en-US" sz="1400" dirty="0"/>
              <a:t>优化后：</a:t>
            </a:r>
            <a:r>
              <a:rPr lang="zh-CN" altLang="en-US" sz="1400" b="1" dirty="0"/>
              <a:t>本地预览 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延迟提交（推荐）</a:t>
            </a:r>
          </a:p>
          <a:p>
            <a:r>
              <a:rPr lang="zh-CN" altLang="en-US" sz="1400" dirty="0"/>
              <a:t>移动过程中只更新本地显示，不修改实际数据，鼠标抬起时才提交最终位置。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8880" y="2355850"/>
            <a:ext cx="4876800" cy="76200"/>
          </a:xfrm>
          <a:prstGeom prst="parallelogram">
            <a:avLst>
              <a:gd name="adj" fmla="val 25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slides_tmpl/image/25-09-04-16:27:01-d2skqle1bb2p4onbqhd0.png"/>
          <p:cNvPicPr>
            <a:picLocks noChangeAspect="1"/>
          </p:cNvPicPr>
          <p:nvPr/>
        </p:nvPicPr>
        <p:blipFill>
          <a:blip r:embed="rId3"/>
          <a:srcRect l="70" r="70"/>
          <a:stretch/>
        </p:blipFill>
        <p:spPr>
          <a:xfrm>
            <a:off x="7632700" y="0"/>
            <a:ext cx="4559300" cy="6867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8060" y="704215"/>
            <a:ext cx="6344285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功能对照表 100% 达成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6960" y="1863725"/>
            <a:ext cx="5307330" cy="438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功能实现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76960" y="2554605"/>
            <a:ext cx="530733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基础功能与进阶功能全部完成，包括书写、平滑处理、擦除、圈选、性能优化等。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互动白板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E17-14E1-A7B4-92B7-91860020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AC6943-A568-0DB5-4400-97D8637013E7}"/>
              </a:ext>
            </a:extLst>
          </p:cNvPr>
          <p:cNvSpPr/>
          <p:nvPr/>
        </p:nvSpPr>
        <p:spPr>
          <a:xfrm>
            <a:off x="382128" y="44599"/>
            <a:ext cx="7016115" cy="7632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方案对比</a:t>
            </a:r>
            <a:endParaRPr 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B33840-48DD-CA35-B5BE-9EC46E3611B2}"/>
              </a:ext>
            </a:extLst>
          </p:cNvPr>
          <p:cNvSpPr txBox="1"/>
          <p:nvPr/>
        </p:nvSpPr>
        <p:spPr>
          <a:xfrm>
            <a:off x="765699" y="1258810"/>
            <a:ext cx="1844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</a:t>
            </a:r>
            <a:r>
              <a:rPr lang="en-US" altLang="zh-CN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A:</a:t>
            </a:r>
            <a:r>
              <a:rPr lang="zh-CN" altLang="en-US" b="1" dirty="0"/>
              <a:t>操作转换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8C13EB-79EA-D011-E4DD-8729C8F1E99E}"/>
              </a:ext>
            </a:extLst>
          </p:cNvPr>
          <p:cNvSpPr txBox="1"/>
          <p:nvPr/>
        </p:nvSpPr>
        <p:spPr>
          <a:xfrm>
            <a:off x="168675" y="1837677"/>
            <a:ext cx="40482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通过转换函数解决并发操作的冲突，确保所有客户端最终状态一致。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每个操作携带依赖的操作</a:t>
            </a:r>
            <a:r>
              <a:rPr lang="en-US" altLang="zh-CN" dirty="0"/>
              <a:t>ID</a:t>
            </a:r>
          </a:p>
          <a:p>
            <a:r>
              <a:rPr lang="zh-CN" altLang="en-US" dirty="0"/>
              <a:t>服务器维护操作历史</a:t>
            </a:r>
          </a:p>
          <a:p>
            <a:r>
              <a:rPr lang="zh-CN" altLang="en-US" dirty="0"/>
              <a:t>客户端需要转换操作以适配当前状态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实现复杂度高（需要为每种操作类型定义转换函数）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性能开销大（需要维护完整操作历史）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对于图形编辑（如白板）不够直观</a:t>
            </a:r>
          </a:p>
          <a:p>
            <a:r>
              <a:rPr lang="zh-CN" altLang="en-US" dirty="0"/>
              <a:t>调试困难（转换逻辑复杂）</a:t>
            </a: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BB4A53-2279-5418-0F29-48FBBEF8C8FD}"/>
              </a:ext>
            </a:extLst>
          </p:cNvPr>
          <p:cNvSpPr txBox="1"/>
          <p:nvPr/>
        </p:nvSpPr>
        <p:spPr>
          <a:xfrm>
            <a:off x="4877548" y="1316769"/>
            <a:ext cx="3032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</a:t>
            </a:r>
            <a:r>
              <a:rPr lang="en-US" altLang="zh-CN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en-US" altLang="zh-CN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zh-CN" altLang="en-US" b="1" dirty="0"/>
              <a:t>无冲突复制数据类型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77E0FC-0821-7F07-3B4A-3EC2011BF8B9}"/>
              </a:ext>
            </a:extLst>
          </p:cNvPr>
          <p:cNvSpPr txBox="1"/>
          <p:nvPr/>
        </p:nvSpPr>
        <p:spPr>
          <a:xfrm>
            <a:off x="4280525" y="1927931"/>
            <a:ext cx="40482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使用数学理论保证数据结构本身具有合并性质，无需转换。。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使用特殊的数据结构（如</a:t>
            </a:r>
            <a:r>
              <a:rPr lang="en-US" altLang="zh-CN" dirty="0" err="1"/>
              <a:t>LSeq</a:t>
            </a:r>
            <a:r>
              <a:rPr lang="zh-CN" altLang="en-US" dirty="0"/>
              <a:t>、</a:t>
            </a:r>
            <a:r>
              <a:rPr lang="en-US" altLang="zh-CN" dirty="0" err="1"/>
              <a:t>ORMap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操作天然具有交换律和结合律</a:t>
            </a:r>
          </a:p>
          <a:p>
            <a:r>
              <a:rPr lang="zh-CN" altLang="en-US" dirty="0"/>
              <a:t>客户端可以独立合并操作</a:t>
            </a:r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数据结构限制大（需要特殊设计）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存储开销大（需要保留更多元数据）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对于白板的点序列不够直观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学习曲线陡峭</a:t>
            </a: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4995EF-6DD1-7745-3124-A94EE91E7DCC}"/>
              </a:ext>
            </a:extLst>
          </p:cNvPr>
          <p:cNvSpPr txBox="1"/>
          <p:nvPr/>
        </p:nvSpPr>
        <p:spPr>
          <a:xfrm>
            <a:off x="8545513" y="1291618"/>
            <a:ext cx="3032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</a:t>
            </a:r>
            <a:r>
              <a:rPr lang="en-US" altLang="zh-CN" sz="18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C:</a:t>
            </a:r>
            <a:r>
              <a:rPr lang="zh-CN" altLang="en-US" b="1" dirty="0"/>
              <a:t>事件溯源 </a:t>
            </a:r>
            <a:r>
              <a:rPr lang="en-US" altLang="zh-CN" b="1" dirty="0"/>
              <a:t>+ </a:t>
            </a:r>
            <a:r>
              <a:rPr lang="zh-CN" altLang="en-US" b="1" dirty="0"/>
              <a:t>快照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2756F1-E3B5-5729-5B18-50D677B581B5}"/>
              </a:ext>
            </a:extLst>
          </p:cNvPr>
          <p:cNvSpPr txBox="1"/>
          <p:nvPr/>
        </p:nvSpPr>
        <p:spPr>
          <a:xfrm>
            <a:off x="8072782" y="1973799"/>
            <a:ext cx="40482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记录所有操作事件，通过重放恢复状态；定期快照减少重放成本。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所有操作作为事件记录</a:t>
            </a:r>
          </a:p>
          <a:p>
            <a:r>
              <a:rPr lang="zh-CN" altLang="en-US" dirty="0"/>
              <a:t>定期创建完整状态快照</a:t>
            </a:r>
          </a:p>
          <a:p>
            <a:r>
              <a:rPr lang="zh-CN" altLang="en-US" dirty="0"/>
              <a:t>断线重连时：快照 </a:t>
            </a:r>
            <a:r>
              <a:rPr lang="en-US" altLang="zh-CN" dirty="0"/>
              <a:t>+ </a:t>
            </a:r>
            <a:r>
              <a:rPr lang="zh-CN" altLang="en-US" dirty="0"/>
              <a:t>增量事件</a:t>
            </a:r>
          </a:p>
          <a:p>
            <a:endParaRPr lang="en-US" altLang="zh-CN" dirty="0"/>
          </a:p>
          <a:p>
            <a:r>
              <a:rPr lang="zh-CN" altLang="en-US" dirty="0"/>
              <a:t>优点：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实现相对简单（易于理解）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支持完整历史回溯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性能可控（快照机制）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适合图形编辑场景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412718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835" y="608330"/>
            <a:ext cx="7016115" cy="7632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整体框架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4-16:27:03-d2skqlu1bb2p4onbqhi0.png"/>
          <p:cNvPicPr>
            <a:picLocks noChangeAspect="1"/>
          </p:cNvPicPr>
          <p:nvPr/>
        </p:nvPicPr>
        <p:blipFill>
          <a:blip r:embed="rId3"/>
          <a:srcRect l="130" r="130"/>
          <a:stretch/>
        </p:blipFill>
        <p:spPr>
          <a:xfrm>
            <a:off x="0" y="0"/>
            <a:ext cx="3968750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2CBA05F-DF11-DF60-4486-45A36C01E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187" y="1630045"/>
            <a:ext cx="6383582" cy="51859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B722-EC67-071F-7E05-8CA53D14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333898-5087-4AA7-DA94-503C9488B189}"/>
              </a:ext>
            </a:extLst>
          </p:cNvPr>
          <p:cNvSpPr/>
          <p:nvPr/>
        </p:nvSpPr>
        <p:spPr>
          <a:xfrm>
            <a:off x="4394835" y="608330"/>
            <a:ext cx="7016115" cy="7632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数据流操作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4-16:27:03-d2skqlu1bb2p4onbqhi0.png">
            <a:extLst>
              <a:ext uri="{FF2B5EF4-FFF2-40B4-BE49-F238E27FC236}">
                <a16:creationId xmlns:a16="http://schemas.microsoft.com/office/drawing/2014/main" id="{DB3A2FF9-D466-941A-F99B-A6FC5C42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" r="130"/>
          <a:stretch/>
        </p:blipFill>
        <p:spPr>
          <a:xfrm>
            <a:off x="0" y="0"/>
            <a:ext cx="396875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0AA7AAA-A547-6CF0-88CE-5406EEA3A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835" y="2553432"/>
            <a:ext cx="66103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3987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5960"/>
            <a:ext cx="12192000" cy="108204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982195" y="143999"/>
            <a:ext cx="2046755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同步策略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247906"/>
            <a:ext cx="533400" cy="3683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1053B7D9-CE64-5C63-D2A7-0D79BF873DCD}"/>
              </a:ext>
            </a:extLst>
          </p:cNvPr>
          <p:cNvSpPr/>
          <p:nvPr/>
        </p:nvSpPr>
        <p:spPr>
          <a:xfrm>
            <a:off x="936624" y="2643546"/>
            <a:ext cx="3521076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冲突处理</a:t>
            </a:r>
            <a:endParaRPr lang="en-US" altLang="zh-CN" sz="2000" dirty="0"/>
          </a:p>
        </p:txBody>
      </p:sp>
      <p:pic>
        <p:nvPicPr>
          <p:cNvPr id="10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83D750FB-287C-C054-4298-3BF2459DFC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3077" y="2735293"/>
            <a:ext cx="533400" cy="368300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523B4FAD-E114-863A-4685-EDA78BF5BF9F}"/>
              </a:ext>
            </a:extLst>
          </p:cNvPr>
          <p:cNvSpPr/>
          <p:nvPr/>
        </p:nvSpPr>
        <p:spPr>
          <a:xfrm>
            <a:off x="335000" y="3075413"/>
            <a:ext cx="5761000" cy="29164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1.多用户操作冲突时</a:t>
            </a:r>
            <a:r>
              <a:rPr lang="zh-CN" altLang="en-US" sz="1800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dirty="0"/>
              <a:t>向量时钟判断因果关系，并发冲突时检查操作类型，可合并的操作（如修改颜色和修改位置）智能合并，无法合并时使用时间戳</a:t>
            </a:r>
            <a:r>
              <a:rPr lang="en-US" altLang="zh-CN" dirty="0"/>
              <a:t>+</a:t>
            </a:r>
            <a:r>
              <a:rPr lang="zh-CN" altLang="en-US" dirty="0"/>
              <a:t>用户优先级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zh-CN" altLang="en-US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不同用户笔触数据不一致：</a:t>
            </a:r>
            <a:r>
              <a:rPr lang="zh-CN" altLang="en-US" dirty="0"/>
              <a:t>每</a:t>
            </a:r>
            <a:r>
              <a:rPr lang="en-US" altLang="zh-CN" dirty="0"/>
              <a:t>N</a:t>
            </a:r>
            <a:r>
              <a:rPr lang="zh-CN" altLang="en-US" dirty="0"/>
              <a:t>个增量快照创建一个完整快照，</a:t>
            </a:r>
            <a:r>
              <a:rPr lang="zh-CN" altLang="en-US" b="1" dirty="0"/>
              <a:t>检测到数据不一致，同步完整快抓紧安排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rgbClr val="11111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FE0EF4-8F94-EF75-F649-FF33BF61F445}"/>
              </a:ext>
            </a:extLst>
          </p:cNvPr>
          <p:cNvSpPr txBox="1"/>
          <p:nvPr/>
        </p:nvSpPr>
        <p:spPr>
          <a:xfrm>
            <a:off x="523044" y="1183225"/>
            <a:ext cx="609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实时操作 + 定期快照校验：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实时操作通过</a:t>
            </a:r>
            <a:r>
              <a:rPr lang="en-US" altLang="zh-CN" dirty="0" err="1"/>
              <a:t>websocket</a:t>
            </a:r>
            <a:r>
              <a:rPr lang="zh-CN" altLang="en-US" dirty="0"/>
              <a:t>广播到其它成员</a:t>
            </a:r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快照用于断线重连和一致性校验</a:t>
            </a:r>
          </a:p>
        </p:txBody>
      </p:sp>
      <p:pic>
        <p:nvPicPr>
          <p:cNvPr id="8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BA548FB0-4CF6-2809-CECA-D61D9D25D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3224" y="247906"/>
            <a:ext cx="533400" cy="36830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A4513A99-6BD7-65B3-747A-22CA5F134662}"/>
              </a:ext>
            </a:extLst>
          </p:cNvPr>
          <p:cNvSpPr/>
          <p:nvPr/>
        </p:nvSpPr>
        <p:spPr>
          <a:xfrm>
            <a:off x="8449806" y="761767"/>
            <a:ext cx="2046755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存储策略</a:t>
            </a:r>
            <a:endParaRPr lang="en-US" sz="1600" dirty="0"/>
          </a:p>
        </p:txBody>
      </p:sp>
      <p:pic>
        <p:nvPicPr>
          <p:cNvPr id="14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656AA738-1413-5DC3-1C1C-D03725B630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6553" y="865674"/>
            <a:ext cx="533400" cy="3683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D9C63047-2B5B-6503-3915-C4EE2E46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70835" y="865674"/>
            <a:ext cx="533400" cy="3683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8EA3516-7561-C228-CF9D-03BEA8EADE48}"/>
              </a:ext>
            </a:extLst>
          </p:cNvPr>
          <p:cNvSpPr txBox="1"/>
          <p:nvPr/>
        </p:nvSpPr>
        <p:spPr>
          <a:xfrm>
            <a:off x="7405007" y="1732695"/>
            <a:ext cx="46684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本地存储：操作定时保存到本地（如每 </a:t>
            </a:r>
            <a:r>
              <a:rPr lang="en-US" altLang="zh-CN" dirty="0"/>
              <a:t>5 </a:t>
            </a:r>
            <a:r>
              <a:rPr lang="zh-CN" altLang="en-US" dirty="0"/>
              <a:t>秒），删除旧快照。</a:t>
            </a:r>
          </a:p>
          <a:p>
            <a:r>
              <a:rPr lang="zh-CN" altLang="en-US" dirty="0"/>
              <a:t>  </a:t>
            </a:r>
            <a:r>
              <a:rPr lang="en-US" altLang="zh-CN" dirty="0"/>
              <a:t>	</a:t>
            </a:r>
            <a:r>
              <a:rPr lang="zh-CN" altLang="en-US" dirty="0"/>
              <a:t>操作队列缓存（断线时恢复）</a:t>
            </a:r>
          </a:p>
          <a:p>
            <a:r>
              <a:rPr lang="zh-CN" altLang="en-US" dirty="0"/>
              <a:t>  </a:t>
            </a:r>
            <a:r>
              <a:rPr lang="en-US" altLang="zh-CN" dirty="0"/>
              <a:t>	</a:t>
            </a:r>
            <a:r>
              <a:rPr lang="zh-CN" altLang="en-US" dirty="0"/>
              <a:t>历史记录本地备份</a:t>
            </a:r>
            <a:endParaRPr lang="en-US" altLang="zh-CN" dirty="0"/>
          </a:p>
          <a:p>
            <a:r>
              <a:rPr lang="zh-CN" altLang="en-US" dirty="0"/>
              <a:t>服务器存储：</a:t>
            </a:r>
            <a:r>
              <a:rPr lang="en-US" altLang="zh-CN" dirty="0"/>
              <a:t>1.</a:t>
            </a:r>
            <a:r>
              <a:rPr lang="zh-CN" altLang="en-US" dirty="0"/>
              <a:t>用户上线后主动推送数据到服务器</a:t>
            </a:r>
            <a:endParaRPr lang="en-US" altLang="zh-CN" dirty="0"/>
          </a:p>
          <a:p>
            <a:r>
              <a:rPr lang="en-US" altLang="zh-CN" dirty="0"/>
              <a:t>	         2.</a:t>
            </a:r>
            <a:r>
              <a:rPr lang="zh-CN" altLang="en-US" dirty="0"/>
              <a:t>用户从服务器，先做一致性校验，再拉取数据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B714-4159-F5D1-B165-E6459258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E163ED-C911-A1F4-ACF0-5BBF3C824277}"/>
              </a:ext>
            </a:extLst>
          </p:cNvPr>
          <p:cNvSpPr/>
          <p:nvPr/>
        </p:nvSpPr>
        <p:spPr>
          <a:xfrm>
            <a:off x="0" y="5775960"/>
            <a:ext cx="12192000" cy="108204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DE8D068-8871-2838-17C0-129915AF34D6}"/>
              </a:ext>
            </a:extLst>
          </p:cNvPr>
          <p:cNvSpPr/>
          <p:nvPr/>
        </p:nvSpPr>
        <p:spPr>
          <a:xfrm>
            <a:off x="982195" y="143999"/>
            <a:ext cx="3793991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11111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数据传输协议设计</a:t>
            </a:r>
          </a:p>
        </p:txBody>
      </p:sp>
      <p:pic>
        <p:nvPicPr>
          <p:cNvPr id="6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AD19D448-94E3-078E-6161-6EDEB4EC4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247906"/>
            <a:ext cx="533400" cy="3683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C2467DF1-7650-2A48-3170-79DEA2BB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3224" y="247906"/>
            <a:ext cx="533400" cy="3683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1F0E13B-0FF1-34E0-499B-034C9C89D93C}"/>
              </a:ext>
            </a:extLst>
          </p:cNvPr>
          <p:cNvSpPr txBox="1"/>
          <p:nvPr/>
        </p:nvSpPr>
        <p:spPr>
          <a:xfrm>
            <a:off x="1097804" y="1326284"/>
            <a:ext cx="162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消息压缩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64781A-36BB-A48C-A23C-EAFDAD558946}"/>
              </a:ext>
            </a:extLst>
          </p:cNvPr>
          <p:cNvSpPr txBox="1"/>
          <p:nvPr/>
        </p:nvSpPr>
        <p:spPr>
          <a:xfrm>
            <a:off x="403224" y="1695616"/>
            <a:ext cx="34653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使用差值编码压缩点序列（只存储相邻点的差值，而不是绝对坐标）</a:t>
            </a:r>
          </a:p>
          <a:p>
            <a:r>
              <a:rPr lang="zh-CN" altLang="en-US" dirty="0"/>
              <a:t>使用 </a:t>
            </a:r>
            <a:r>
              <a:rPr lang="en-US" altLang="zh-CN" dirty="0" err="1"/>
              <a:t>MessagePack</a:t>
            </a:r>
            <a:r>
              <a:rPr lang="en-US" altLang="zh-CN" dirty="0"/>
              <a:t> </a:t>
            </a:r>
            <a:r>
              <a:rPr lang="zh-CN" altLang="en-US" dirty="0"/>
              <a:t>序列化（比</a:t>
            </a:r>
            <a:r>
              <a:rPr lang="en-US" altLang="zh-CN" dirty="0"/>
              <a:t>JSON</a:t>
            </a:r>
            <a:r>
              <a:rPr lang="zh-CN" altLang="en-US" dirty="0"/>
              <a:t>更紧凑）</a:t>
            </a:r>
          </a:p>
          <a:p>
            <a:r>
              <a:rPr lang="zh-CN" altLang="en-US" dirty="0"/>
              <a:t>如果消息体超过</a:t>
            </a:r>
            <a:r>
              <a:rPr lang="en-US" altLang="zh-CN" dirty="0"/>
              <a:t>1KB</a:t>
            </a:r>
            <a:r>
              <a:rPr lang="zh-CN" altLang="en-US" dirty="0"/>
              <a:t>，使用 </a:t>
            </a:r>
            <a:r>
              <a:rPr lang="en-US" altLang="zh-CN" dirty="0" err="1"/>
              <a:t>gzip</a:t>
            </a:r>
            <a:r>
              <a:rPr lang="en-US" altLang="zh-CN" dirty="0"/>
              <a:t> </a:t>
            </a:r>
            <a:r>
              <a:rPr lang="zh-CN" altLang="en-US" dirty="0"/>
              <a:t>压缩</a:t>
            </a:r>
          </a:p>
          <a:p>
            <a:r>
              <a:rPr lang="zh-CN" altLang="en-US" dirty="0"/>
              <a:t>批量消息压缩：</a:t>
            </a:r>
          </a:p>
          <a:p>
            <a:r>
              <a:rPr lang="zh-CN" altLang="en-US" dirty="0"/>
              <a:t>多个操作合并为一条消息</a:t>
            </a:r>
          </a:p>
          <a:p>
            <a:r>
              <a:rPr lang="zh-CN" altLang="en-US" dirty="0"/>
              <a:t>共享公共字段（用户</a:t>
            </a:r>
            <a:r>
              <a:rPr lang="en-US" altLang="zh-CN" dirty="0"/>
              <a:t>ID</a:t>
            </a:r>
            <a:r>
              <a:rPr lang="zh-CN" altLang="en-US" dirty="0"/>
              <a:t>、白板</a:t>
            </a:r>
            <a:r>
              <a:rPr lang="en-US" altLang="zh-CN" dirty="0"/>
              <a:t>ID</a:t>
            </a:r>
            <a:r>
              <a:rPr lang="zh-CN" altLang="en-US" dirty="0"/>
              <a:t>等），每个操作只包含差异字段</a:t>
            </a:r>
            <a:endParaRPr lang="zh-CN" altLang="en-US" dirty="0">
              <a:effectLst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B7146A-9C31-67AF-DDAA-EF0E66261CD0}"/>
              </a:ext>
            </a:extLst>
          </p:cNvPr>
          <p:cNvSpPr txBox="1"/>
          <p:nvPr/>
        </p:nvSpPr>
        <p:spPr>
          <a:xfrm>
            <a:off x="5695673" y="1298499"/>
            <a:ext cx="162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消息优先级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0FD061-1666-633D-8D28-9E1FE601F797}"/>
              </a:ext>
            </a:extLst>
          </p:cNvPr>
          <p:cNvSpPr txBox="1"/>
          <p:nvPr/>
        </p:nvSpPr>
        <p:spPr>
          <a:xfrm>
            <a:off x="4967105" y="1694736"/>
            <a:ext cx="32122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高优先级</a:t>
            </a:r>
            <a:r>
              <a:rPr lang="zh-CN" altLang="en-US" dirty="0"/>
              <a:t>（立即发送）：</a:t>
            </a:r>
            <a:endParaRPr lang="en-US" altLang="zh-CN" dirty="0"/>
          </a:p>
          <a:p>
            <a:r>
              <a:rPr lang="zh-CN" altLang="en-US" dirty="0"/>
              <a:t>删除操作，移动操作，选择操作</a:t>
            </a:r>
          </a:p>
          <a:p>
            <a:r>
              <a:rPr lang="zh-CN" altLang="en-US" b="1" dirty="0"/>
              <a:t>中优先级</a:t>
            </a:r>
            <a:r>
              <a:rPr lang="zh-CN" altLang="en-US" dirty="0"/>
              <a:t>（</a:t>
            </a:r>
            <a:r>
              <a:rPr lang="en-US" altLang="zh-CN" dirty="0"/>
              <a:t>100ms</a:t>
            </a:r>
            <a:r>
              <a:rPr lang="zh-CN" altLang="en-US" dirty="0"/>
              <a:t>批量）：笔触结束</a:t>
            </a:r>
          </a:p>
          <a:p>
            <a:r>
              <a:rPr lang="zh-CN" altLang="en-US" dirty="0"/>
              <a:t>属性更新</a:t>
            </a:r>
          </a:p>
          <a:p>
            <a:r>
              <a:rPr lang="zh-CN" altLang="en-US" b="1" dirty="0"/>
              <a:t>低优先级</a:t>
            </a:r>
            <a:r>
              <a:rPr lang="zh-CN" altLang="en-US" dirty="0"/>
              <a:t>（</a:t>
            </a:r>
            <a:r>
              <a:rPr lang="en-US" altLang="zh-CN" dirty="0"/>
              <a:t>200ms</a:t>
            </a:r>
            <a:r>
              <a:rPr lang="zh-CN" altLang="en-US" dirty="0"/>
              <a:t>批量）：点添加</a:t>
            </a:r>
          </a:p>
          <a:p>
            <a:r>
              <a:rPr lang="zh-CN" altLang="en-US" dirty="0"/>
              <a:t>视图变化</a:t>
            </a:r>
          </a:p>
          <a:p>
            <a:r>
              <a:rPr lang="zh-CN" altLang="en-US" b="1" dirty="0"/>
              <a:t>心跳消息</a:t>
            </a:r>
            <a:r>
              <a:rPr lang="zh-CN" altLang="en-US" dirty="0"/>
              <a:t>：每</a:t>
            </a:r>
            <a:r>
              <a:rPr lang="en-US" altLang="zh-CN" dirty="0"/>
              <a:t>30</a:t>
            </a:r>
            <a:r>
              <a:rPr lang="zh-CN" altLang="en-US" dirty="0"/>
              <a:t>秒发送一次</a:t>
            </a:r>
          </a:p>
          <a:p>
            <a:r>
              <a:rPr lang="zh-CN" altLang="en-US" dirty="0"/>
              <a:t>用于检测连接状态</a:t>
            </a:r>
            <a:endParaRPr lang="zh-CN" altLang="en-US" dirty="0">
              <a:effectLst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AA3703-0994-BEFB-D157-B11D322C8A18}"/>
              </a:ext>
            </a:extLst>
          </p:cNvPr>
          <p:cNvSpPr txBox="1"/>
          <p:nvPr/>
        </p:nvSpPr>
        <p:spPr>
          <a:xfrm>
            <a:off x="9307287" y="1326284"/>
            <a:ext cx="160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同步消息格式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CD4568-158B-25FE-899D-2087E082615A}"/>
              </a:ext>
            </a:extLst>
          </p:cNvPr>
          <p:cNvSpPr txBox="1"/>
          <p:nvPr/>
        </p:nvSpPr>
        <p:spPr>
          <a:xfrm>
            <a:off x="8805752" y="1667831"/>
            <a:ext cx="3386248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b="1" dirty="0">
                <a:effectLst/>
              </a:rPr>
              <a:t>同步请求</a:t>
            </a:r>
            <a:r>
              <a:rPr lang="zh-CN" altLang="en-US" dirty="0">
                <a:effectLst/>
              </a:rPr>
              <a:t>：白板</a:t>
            </a:r>
            <a:r>
              <a:rPr lang="en-US" altLang="zh-CN" dirty="0">
                <a:effectLst/>
              </a:rPr>
              <a:t>ID</a:t>
            </a:r>
            <a:r>
              <a:rPr lang="zh-CN" altLang="en-US" dirty="0"/>
              <a:t>、</a:t>
            </a:r>
            <a:r>
              <a:rPr lang="zh-CN" altLang="en-US" dirty="0">
                <a:effectLst/>
              </a:rPr>
              <a:t>客户端当前版本号</a:t>
            </a:r>
            <a:r>
              <a:rPr lang="zh-CN" altLang="en-US" dirty="0"/>
              <a:t>、</a:t>
            </a:r>
            <a:r>
              <a:rPr lang="zh-CN" altLang="en-US" dirty="0">
                <a:effectLst/>
              </a:rPr>
              <a:t>上次同步时间、请求类型（完整快照或增量同步）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b="1" dirty="0">
                <a:effectLst/>
              </a:rPr>
              <a:t>同步响应</a:t>
            </a:r>
            <a:r>
              <a:rPr lang="zh-CN" altLang="en-US" dirty="0">
                <a:effectLst/>
              </a:rPr>
              <a:t>：白板</a:t>
            </a:r>
            <a:r>
              <a:rPr lang="en-US" altLang="zh-CN" dirty="0">
                <a:effectLst/>
              </a:rPr>
              <a:t>ID</a:t>
            </a:r>
            <a:r>
              <a:rPr lang="zh-CN" altLang="en-US" dirty="0">
                <a:effectLst/>
              </a:rPr>
              <a:t>、服务器版本号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dirty="0">
                <a:effectLst/>
              </a:rPr>
              <a:t>、同步类型（完整或增量）、数据（快照或增量操作列表）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b="1" dirty="0">
                <a:effectLst/>
              </a:rPr>
              <a:t>增量同步</a:t>
            </a:r>
            <a:r>
              <a:rPr lang="zh-CN" altLang="en-US" dirty="0">
                <a:effectLst/>
              </a:rPr>
              <a:t>：基础快照版本号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dirty="0">
                <a:effectLst/>
              </a:rPr>
              <a:t>、从该版本到最新版本的所有操作</a:t>
            </a:r>
          </a:p>
        </p:txBody>
      </p:sp>
    </p:spTree>
    <p:extLst>
      <p:ext uri="{BB962C8B-B14F-4D97-AF65-F5344CB8AC3E}">
        <p14:creationId xmlns:p14="http://schemas.microsoft.com/office/powerpoint/2010/main" val="33472396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532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391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22301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5068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79070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7454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https://kimi-img.moonshot.cn/pub/slides/slides_tmpl/image/25-09-04-16:27:05-d2skqme1bb2p4onbqi10.png"/>
          <p:cNvPicPr>
            <a:picLocks noChangeAspect="1"/>
          </p:cNvPicPr>
          <p:nvPr/>
        </p:nvPicPr>
        <p:blipFill>
          <a:blip r:embed="rId3"/>
          <a:srcRect l="17548" r="23949" b="14559"/>
          <a:stretch/>
        </p:blipFill>
        <p:spPr>
          <a:xfrm rot="16200000">
            <a:off x="5955983" y="612140"/>
            <a:ext cx="6848475" cy="5623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320" y="2224405"/>
            <a:ext cx="7026275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8670" y="3585845"/>
            <a:ext cx="595439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1033</Words>
  <Application>Microsoft Office PowerPoint</Application>
  <PresentationFormat>宽屏</PresentationFormat>
  <Paragraphs>187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Segoe WPC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互动白板笔迹与交互技术实现</dc:title>
  <dc:subject>互动白板笔迹与交互技术实现</dc:subject>
  <dc:creator>Kimi</dc:creator>
  <cp:lastModifiedBy>业驰 肖</cp:lastModifiedBy>
  <cp:revision>6</cp:revision>
  <dcterms:created xsi:type="dcterms:W3CDTF">2025-12-25T01:39:36Z</dcterms:created>
  <dcterms:modified xsi:type="dcterms:W3CDTF">2025-12-25T13:54:07Z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互动白板笔迹与交互技术实现","ContentProducer":"001191110108MACG2KBH8F10000","ProduceID":"19b53263-56f2-8acf-8000-00007da70182","ReservedCode1":"","ContentPropagator":"001191110108MACG2KBH8F20000","PropagateID":"19b53263-56f2-8acf-8000-00007da70182","ReservedCode2":""}</vt:lpwstr>
  </property>
</Properties>
</file>